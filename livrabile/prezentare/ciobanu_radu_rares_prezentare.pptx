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291590"/>
            <a:ext cx="12191695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7685" y="411480"/>
            <a:ext cx="10058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 dirty="0">
                <a:latin typeface="Segoe UI"/>
              </a:rPr>
              <a:t>UNIVERSITATEA TEHNICĂ DIN CLUJ-NAPOCA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685" y="793242"/>
            <a:ext cx="10058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Facultatea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de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Automatică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și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Calculatoare</a:t>
            </a:r>
            <a:endParaRPr sz="1400" b="0" i="0" dirty="0">
              <a:solidFill>
                <a:schemeClr val="tx1">
                  <a:lumMod val="75000"/>
                  <a:lumOff val="25000"/>
                </a:schemeClr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45158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 dirty="0" err="1">
                <a:solidFill>
                  <a:srgbClr val="162738"/>
                </a:solidFill>
                <a:latin typeface="Segoe UI"/>
              </a:rPr>
              <a:t>Sistem</a:t>
            </a:r>
            <a:r>
              <a:rPr sz="4200" b="1" i="0" dirty="0">
                <a:solidFill>
                  <a:srgbClr val="162738"/>
                </a:solidFill>
                <a:latin typeface="Segoe UI"/>
              </a:rPr>
              <a:t> de Control FPGA </a:t>
            </a:r>
            <a:r>
              <a:rPr sz="4200" b="1" i="0" dirty="0" err="1">
                <a:solidFill>
                  <a:srgbClr val="162738"/>
                </a:solidFill>
                <a:latin typeface="Segoe UI"/>
              </a:rPr>
              <a:t>pentru</a:t>
            </a:r>
            <a:endParaRPr sz="4200" b="1" i="0" dirty="0">
              <a:solidFill>
                <a:srgbClr val="162738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4200" b="1" i="0" dirty="0" err="1">
                <a:solidFill>
                  <a:srgbClr val="162738"/>
                </a:solidFill>
                <a:latin typeface="Segoe UI"/>
              </a:rPr>
              <a:t>Mână</a:t>
            </a:r>
            <a:r>
              <a:rPr sz="42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4200" b="1" i="0" dirty="0" err="1">
                <a:solidFill>
                  <a:srgbClr val="162738"/>
                </a:solidFill>
                <a:latin typeface="Segoe UI"/>
              </a:rPr>
              <a:t>Robotică</a:t>
            </a:r>
            <a:r>
              <a:rPr sz="4200" b="1" i="0" dirty="0">
                <a:solidFill>
                  <a:srgbClr val="162738"/>
                </a:solidFill>
                <a:latin typeface="Segoe UI"/>
              </a:rPr>
              <a:t> cu </a:t>
            </a:r>
            <a:r>
              <a:rPr sz="4200" b="1" i="0" dirty="0" err="1">
                <a:solidFill>
                  <a:srgbClr val="162738"/>
                </a:solidFill>
                <a:latin typeface="Segoe UI"/>
              </a:rPr>
              <a:t>Filtrare</a:t>
            </a:r>
            <a:r>
              <a:rPr sz="4200" b="1" i="0" dirty="0">
                <a:solidFill>
                  <a:srgbClr val="162738"/>
                </a:solidFill>
                <a:latin typeface="Segoe UI"/>
              </a:rPr>
              <a:t> Kalman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62738"/>
                </a:solidFill>
                <a:latin typeface="Segoe UI"/>
              </a:rPr>
              <a:t>Absolvent:  Radu-Rareș CIOBANU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10261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Coordonator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științific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:  Prof. dr.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ing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. Radu Gabriel DĂNESCU   </a:t>
            </a:r>
            <a:r>
              <a:rPr 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											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Iulie</a:t>
            </a:r>
            <a:r>
              <a:rPr sz="1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INTRODUCERE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Context și motivație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360720"/>
            <a:ext cx="6126480" cy="3142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Mâinile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robotice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care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reproduc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gesturile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umane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au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aplicații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reale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medicină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 și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industrie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Reproducerea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mișcării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umane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cere control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timp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real, precis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stabil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Poziția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degetelor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e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preluată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cu o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cameră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web,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dar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aceste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date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conțin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erori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s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pike-uri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Placa FPGA a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fost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aleasă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pentru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viteza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paralelism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,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i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ar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filtrul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Kalman 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atenueaz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ă zgomotul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2592" y="2233422"/>
            <a:ext cx="4700016" cy="3579876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na_comple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43150"/>
            <a:ext cx="448056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OBIECTIVE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Obiectivele proiectului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3609"/>
            <a:ext cx="10332720" cy="28423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Controlul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timp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real al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mâini</a:t>
            </a:r>
            <a:r>
              <a:rPr lang="ro-RO" sz="2000" dirty="0">
                <a:solidFill>
                  <a:srgbClr val="162738"/>
                </a:solidFill>
                <a:latin typeface="Segoe UI"/>
              </a:rPr>
              <a:t>i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robotice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cu 8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servomotoare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ro-RO" sz="2000" dirty="0">
                <a:solidFill>
                  <a:srgbClr val="162738"/>
                </a:solidFill>
                <a:latin typeface="Segoe UI"/>
              </a:rPr>
              <a:t>Preluarea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unghiurilor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prin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UART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filtrarea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lor cu un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filtru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Kalman.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Generarea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celor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8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semnale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PWM de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comandă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către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servomotoare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Citirea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poziției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reale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a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servomotoarelor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printr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-un convertor analog-digital.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Izolarea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galvanică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între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partea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logică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partea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putere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20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Implementare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integrală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virgulă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fixă</a:t>
            </a:r>
            <a:r>
              <a:rPr sz="2000" dirty="0">
                <a:solidFill>
                  <a:srgbClr val="162738"/>
                </a:solidFill>
                <a:latin typeface="Segoe UI"/>
              </a:rPr>
              <a:t>, pe un circuit de 100 </a:t>
            </a:r>
            <a:r>
              <a:rPr sz="2000" dirty="0" err="1">
                <a:solidFill>
                  <a:srgbClr val="162738"/>
                </a:solidFill>
                <a:latin typeface="Segoe UI"/>
              </a:rPr>
              <a:t>MHz.</a:t>
            </a:r>
            <a:endParaRPr sz="2000" dirty="0">
              <a:solidFill>
                <a:srgbClr val="1627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PRIVIRE DE ANSAMBLU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Arhitectura sistemului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04059"/>
            <a:ext cx="7808976" cy="4330041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1874519"/>
            <a:ext cx="3017520" cy="12344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2011679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Comandă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41447"/>
            <a:ext cx="2651760" cy="52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62738"/>
                </a:solidFill>
                <a:latin typeface="Segoe UI"/>
              </a:rPr>
              <a:t>UART </a:t>
            </a:r>
            <a:r>
              <a:rPr lang="en-US" sz="1400" b="0" i="0" dirty="0">
                <a:solidFill>
                  <a:srgbClr val="162738"/>
                </a:solidFill>
                <a:latin typeface="Segoe UI"/>
              </a:rPr>
              <a:t>-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mailbox</a:t>
            </a:r>
            <a:r>
              <a:rPr lang="en-US" sz="1400" b="0" i="0" dirty="0">
                <a:solidFill>
                  <a:srgbClr val="162738"/>
                </a:solidFill>
                <a:latin typeface="Segoe UI"/>
              </a:rPr>
              <a:t>-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filtru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Kalman </a:t>
            </a:r>
            <a:r>
              <a:rPr lang="en-US" sz="1400" b="0" i="0" dirty="0">
                <a:solidFill>
                  <a:srgbClr val="162738"/>
                </a:solidFill>
                <a:latin typeface="Segoe UI"/>
              </a:rPr>
              <a:t>-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generare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PWM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246120"/>
            <a:ext cx="3017520" cy="1234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33832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813048"/>
            <a:ext cx="2651760" cy="52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62738"/>
                </a:solidFill>
                <a:latin typeface="Segoe UI"/>
              </a:rPr>
              <a:t>ADC AD7124-8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citit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prin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SPI,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izolat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de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MAX14850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617720"/>
            <a:ext cx="3017520" cy="1234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47548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Izolare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5184648"/>
            <a:ext cx="2651760" cy="528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62738"/>
                </a:solidFill>
                <a:latin typeface="Segoe UI"/>
              </a:rPr>
              <a:t>ADuM140</a:t>
            </a:r>
            <a:r>
              <a:rPr lang="en-US" sz="1400" b="0" i="0" dirty="0">
                <a:solidFill>
                  <a:srgbClr val="162738"/>
                </a:solidFill>
                <a:latin typeface="Segoe UI"/>
              </a:rPr>
              <a:t>0</a:t>
            </a:r>
            <a:r>
              <a:rPr lang="pt-BR" sz="1400" b="0" i="0" dirty="0">
                <a:solidFill>
                  <a:srgbClr val="162738"/>
                </a:solidFill>
                <a:latin typeface="Segoe UI"/>
              </a:rPr>
              <a:t> protectie impotriva zgomotului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180854-190C-EA36-02C9-F7254907B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15835"/>
            <a:ext cx="7534655" cy="409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COMPONENTĂ CHEIE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Placa FPGA Basys3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21712"/>
            <a:ext cx="5288280" cy="3603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Circuit Xilinx Artix-7 XC7A35T,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ceas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de 100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MHz.</a:t>
            </a:r>
            <a:endParaRPr sz="1900" dirty="0">
              <a:solidFill>
                <a:srgbClr val="162738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Ț</a:t>
            </a:r>
            <a:r>
              <a:rPr lang="en-US" sz="1900" dirty="0" err="1">
                <a:solidFill>
                  <a:srgbClr val="162738"/>
                </a:solidFill>
                <a:latin typeface="Segoe UI"/>
              </a:rPr>
              <a:t>ine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toate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cele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14 module VHDL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.</a:t>
            </a:r>
            <a:endParaRPr sz="1900" dirty="0">
              <a:solidFill>
                <a:srgbClr val="162738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Rulează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paralel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: UART, Kalman, PWM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bucla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SPI.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</a:t>
            </a:r>
            <a:r>
              <a:rPr lang="pt-BR" sz="1900" b="1" dirty="0">
                <a:solidFill>
                  <a:srgbClr val="0E7A99"/>
                </a:solidFill>
                <a:latin typeface="Segoe UI"/>
              </a:rPr>
              <a:t> 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Comportament identic la fiecare ciclu, fără variații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Moduri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lucru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: normal,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demonstrativ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manual.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1" y="1737361"/>
            <a:ext cx="5550408" cy="3542416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rhitectura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115" y="1819656"/>
            <a:ext cx="5350477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CONTRIBUȚIA CENTRALĂ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Filtrul Kalman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06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8719"/>
            <a:ext cx="5852160" cy="2989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Filtru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cu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două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stări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: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poziție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viteză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Implementat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aritmetică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cu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virgulă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fixă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Q16.16.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Prelucrează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toate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cele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8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canale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într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-un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ciclu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de control.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Împărțirea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realizată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pe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mai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multe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cicluri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.</a:t>
            </a:r>
            <a:endParaRPr sz="1900" dirty="0">
              <a:solidFill>
                <a:srgbClr val="162738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Filtrează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zgomotul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din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unghiuri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dă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o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mișcare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controlată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3448" y="749808"/>
            <a:ext cx="3806647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alman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854548"/>
            <a:ext cx="3431739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COMPONENTĂ CHEIE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Convertorul AD7124-8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07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2159"/>
            <a:ext cx="5943600" cy="2682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Convertor sigma-delta pe 24 de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biți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de la Analog Devices.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Citește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poziția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reală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a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servomotoarelor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,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feedback.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Comunica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SPI, 8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canale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,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prin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divizoare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rezistive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Referință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internă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buffere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intrare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activate.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Închide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bucla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: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comandă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,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mișcare</a:t>
            </a:r>
            <a:r>
              <a:rPr lang="en-US" sz="1900" dirty="0">
                <a:solidFill>
                  <a:srgbClr val="162738"/>
                </a:solidFill>
                <a:latin typeface="Segoe UI"/>
              </a:rPr>
              <a:t>,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măsurare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1152" y="2226369"/>
            <a:ext cx="4791456" cy="3502541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di_ad7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336097"/>
            <a:ext cx="4572000" cy="3283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COMPONENTĂ CHEIE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dirty="0" err="1">
                <a:solidFill>
                  <a:srgbClr val="162738"/>
                </a:solidFill>
                <a:latin typeface="Segoe UI"/>
              </a:rPr>
              <a:t>Izolarea</a:t>
            </a:r>
            <a:r>
              <a:rPr sz="32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162738"/>
                </a:solidFill>
                <a:latin typeface="Segoe UI"/>
              </a:rPr>
              <a:t>galvanică</a:t>
            </a:r>
            <a:endParaRPr sz="3200" b="1" i="0" dirty="0">
              <a:solidFill>
                <a:srgbClr val="162738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08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777"/>
            <a:ext cx="5852160" cy="2193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Separă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partea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logică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zgomotul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servomotoarelor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ADuM1400 (</a:t>
            </a:r>
            <a:r>
              <a:rPr lang="ro-RO" dirty="0">
                <a:solidFill>
                  <a:srgbClr val="162738"/>
                </a:solidFill>
                <a:latin typeface="Segoe UI"/>
              </a:rPr>
              <a:t>x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2):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izolează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cele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8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semnale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PWM.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Semnalul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trece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peste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barieră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prin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inducție</a:t>
            </a:r>
            <a:r>
              <a:rPr lang="en-US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dirty="0" err="1">
                <a:solidFill>
                  <a:srgbClr val="162738"/>
                </a:solidFill>
                <a:latin typeface="Segoe UI"/>
              </a:rPr>
              <a:t>magnetică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MAX14850: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izolează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magistrala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SPI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către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convertor.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Previne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propagarea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vârfurilor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tensiune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placă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9712" y="2486759"/>
            <a:ext cx="4882896" cy="3073202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di_adum_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96487"/>
            <a:ext cx="4663440" cy="2853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ANSAMBLUL MECANIC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Realizarea fizică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09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0E7A99"/>
                </a:solidFill>
                <a:latin typeface="Segoe UI"/>
              </a:rPr>
              <a:t>▸ </a:t>
            </a:r>
            <a:r>
              <a:rPr sz="1800">
                <a:solidFill>
                  <a:srgbClr val="162738"/>
                </a:solidFill>
                <a:latin typeface="Segoe UI"/>
              </a:rPr>
              <a:t>Mână printată 3D, ansamblu hibrid cu piese proprii.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0E7A99"/>
                </a:solidFill>
                <a:latin typeface="Segoe UI"/>
              </a:rPr>
              <a:t>▸ </a:t>
            </a:r>
            <a:r>
              <a:rPr sz="1800">
                <a:solidFill>
                  <a:srgbClr val="162738"/>
                </a:solidFill>
                <a:latin typeface="Segoe UI"/>
              </a:rPr>
              <a:t>Acționare prin fire și arcuri (tendoane).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0E7A99"/>
                </a:solidFill>
                <a:latin typeface="Segoe UI"/>
              </a:rPr>
              <a:t>▸ </a:t>
            </a:r>
            <a:r>
              <a:rPr sz="1800">
                <a:solidFill>
                  <a:srgbClr val="162738"/>
                </a:solidFill>
                <a:latin typeface="Segoe UI"/>
              </a:rPr>
              <a:t>8 servomotoare MG996R.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0E7A99"/>
                </a:solidFill>
                <a:latin typeface="Segoe UI"/>
              </a:rPr>
              <a:t>▸ </a:t>
            </a:r>
            <a:r>
              <a:rPr sz="1800">
                <a:solidFill>
                  <a:srgbClr val="162738"/>
                </a:solidFill>
                <a:latin typeface="Segoe UI"/>
              </a:rPr>
              <a:t>Feedback prin intervenție directă pe servomotoare.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800" b="1">
                <a:solidFill>
                  <a:srgbClr val="0E7A99"/>
                </a:solidFill>
                <a:latin typeface="Segoe UI"/>
              </a:rPr>
              <a:t>▸ </a:t>
            </a:r>
            <a:r>
              <a:rPr sz="1800">
                <a:solidFill>
                  <a:srgbClr val="162738"/>
                </a:solidFill>
                <a:latin typeface="Segoe UI"/>
              </a:rPr>
              <a:t>Integrare cu placa FPGA și alimentarea.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1132" y="1673352"/>
            <a:ext cx="3648456" cy="4791456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rat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1783080"/>
            <a:ext cx="3429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VALIDARE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Testare și rezultate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10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5662"/>
            <a:ext cx="5852160" cy="23753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Testare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pe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niveluri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: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fiecare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modul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verificat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separat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Închidere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temporală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confirmată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Vivado</a:t>
            </a:r>
            <a:r>
              <a:rPr lang="it-IT"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lang="it-IT"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lang="it-IT" sz="1900" dirty="0">
                <a:solidFill>
                  <a:srgbClr val="162738"/>
                </a:solidFill>
                <a:latin typeface="Segoe UI"/>
              </a:rPr>
              <a:t>Comunica</a:t>
            </a:r>
            <a:r>
              <a:rPr lang="ro-RO" sz="1900" dirty="0">
                <a:solidFill>
                  <a:srgbClr val="162738"/>
                </a:solidFill>
                <a:latin typeface="Segoe UI"/>
              </a:rPr>
              <a:t>r</a:t>
            </a:r>
            <a:r>
              <a:rPr lang="it-IT" sz="1900" dirty="0">
                <a:solidFill>
                  <a:srgbClr val="162738"/>
                </a:solidFill>
                <a:latin typeface="Segoe UI"/>
              </a:rPr>
              <a:t>e SPI verificată cu osciloscopul.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Toate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cele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8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canale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ale ADC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citite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corect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Mâna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reproduce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mișcările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prinde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obiecte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900" dirty="0" err="1">
                <a:solidFill>
                  <a:srgbClr val="162738"/>
                </a:solidFill>
                <a:latin typeface="Segoe UI"/>
              </a:rPr>
              <a:t>reale</a:t>
            </a:r>
            <a:r>
              <a:rPr sz="19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7888" y="452628"/>
            <a:ext cx="3013340" cy="23545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iming_p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612" y="530352"/>
            <a:ext cx="2892878" cy="2174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6070" y="2884932"/>
            <a:ext cx="323697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 err="1">
                <a:solidFill>
                  <a:srgbClr val="5A6B7B"/>
                </a:solidFill>
                <a:latin typeface="Segoe UI"/>
              </a:rPr>
              <a:t>Semnal</a:t>
            </a:r>
            <a:r>
              <a:rPr sz="1300" b="0" dirty="0">
                <a:solidFill>
                  <a:srgbClr val="5A6B7B"/>
                </a:solidFill>
                <a:latin typeface="Segoe UI"/>
              </a:rPr>
              <a:t> PWM: 0,544 – 2,4 </a:t>
            </a:r>
            <a:r>
              <a:rPr sz="1300" b="0" dirty="0" err="1">
                <a:solidFill>
                  <a:srgbClr val="5A6B7B"/>
                </a:solidFill>
                <a:latin typeface="Segoe UI"/>
              </a:rPr>
              <a:t>ms</a:t>
            </a:r>
            <a:endParaRPr sz="1300" b="0" dirty="0">
              <a:solidFill>
                <a:srgbClr val="5A6B7B"/>
              </a:solidFill>
              <a:latin typeface="Segoe U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696F3C-5A68-B9EF-12DB-4B8544120568}"/>
              </a:ext>
            </a:extLst>
          </p:cNvPr>
          <p:cNvSpPr/>
          <p:nvPr/>
        </p:nvSpPr>
        <p:spPr>
          <a:xfrm>
            <a:off x="7182237" y="3253545"/>
            <a:ext cx="3895289" cy="2987396"/>
          </a:xfrm>
          <a:prstGeom prst="rect">
            <a:avLst/>
          </a:prstGeom>
          <a:solidFill>
            <a:srgbClr val="FFFFFF"/>
          </a:solidFill>
          <a:ln w="15875">
            <a:solidFill>
              <a:srgbClr val="0E7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D7EDC2-A8A5-023F-73FA-75690DB5D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94" y="3341294"/>
            <a:ext cx="3653269" cy="28309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495809-5639-0F41-7941-E07FCDC6A55A}"/>
              </a:ext>
            </a:extLst>
          </p:cNvPr>
          <p:cNvSpPr txBox="1"/>
          <p:nvPr/>
        </p:nvSpPr>
        <p:spPr>
          <a:xfrm>
            <a:off x="7499440" y="6290395"/>
            <a:ext cx="323697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ro-RO" sz="1300" b="0" dirty="0">
                <a:solidFill>
                  <a:srgbClr val="5A6B7B"/>
                </a:solidFill>
                <a:latin typeface="Segoe UI"/>
              </a:rPr>
              <a:t>Analiza feedback a degetului mic</a:t>
            </a:r>
            <a:endParaRPr sz="1300" b="0" dirty="0">
              <a:solidFill>
                <a:srgbClr val="5A6B7B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APORTUL AUTORULUI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Contribuții personale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0698480" cy="12344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Filtrul Kalman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10332720" cy="30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 dirty="0" err="1">
                <a:solidFill>
                  <a:srgbClr val="162738"/>
                </a:solidFill>
                <a:latin typeface="Segoe UI"/>
              </a:rPr>
              <a:t>Filtru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cu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două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stări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virgulă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fixă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Q16.16, 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care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evită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calculele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complicate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si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costisitoare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virgulă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 dirty="0" err="1">
                <a:solidFill>
                  <a:srgbClr val="162738"/>
                </a:solidFill>
                <a:latin typeface="Segoe UI"/>
              </a:rPr>
              <a:t>mobilă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10698480" cy="1234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Lanțul complet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62738"/>
                </a:solidFill>
                <a:latin typeface="Segoe UI"/>
              </a:rPr>
              <a:t>De la recepția UART, prin filtrare și sincronizare, până la generarea PWM și feedback-ul prin SPI.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10698480" cy="1234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9CC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E7A99"/>
                </a:solidFill>
                <a:latin typeface="Segoe UI"/>
              </a:rPr>
              <a:t>Integrarea fizică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10332720" cy="30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400" dirty="0">
                <a:solidFill>
                  <a:srgbClr val="162738"/>
                </a:solidFill>
                <a:latin typeface="Segoe UI"/>
              </a:rPr>
              <a:t>Driver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dedicat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pentru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AD7124-8,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realizarea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mâinii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integrarea</a:t>
            </a:r>
            <a:r>
              <a:rPr sz="1400" b="0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162738"/>
                </a:solidFill>
                <a:latin typeface="Segoe UI"/>
              </a:rPr>
              <a:t>componentelor</a:t>
            </a:r>
            <a:r>
              <a:rPr lang="en-US" sz="1400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1400">
                <a:solidFill>
                  <a:srgbClr val="162738"/>
                </a:solidFill>
                <a:latin typeface="Segoe UI"/>
              </a:rPr>
              <a:t>alese</a:t>
            </a:r>
            <a:r>
              <a:rPr sz="1400" b="0" i="0">
                <a:solidFill>
                  <a:srgbClr val="162738"/>
                </a:solidFill>
                <a:latin typeface="Segoe UI"/>
              </a:rPr>
              <a:t>.</a:t>
            </a:r>
            <a:endParaRPr sz="1400" b="0" i="0" dirty="0">
              <a:solidFill>
                <a:srgbClr val="16273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dirty="0" err="1">
                <a:solidFill>
                  <a:srgbClr val="162738"/>
                </a:solidFill>
                <a:latin typeface="Segoe UI"/>
              </a:rPr>
              <a:t>Concluzii</a:t>
            </a:r>
            <a:r>
              <a:rPr sz="32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32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162738"/>
                </a:solidFill>
                <a:latin typeface="Segoe UI"/>
              </a:rPr>
              <a:t>direcții</a:t>
            </a:r>
            <a:r>
              <a:rPr sz="32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162738"/>
                </a:solidFill>
                <a:latin typeface="Segoe UI"/>
              </a:rPr>
              <a:t>viitoare</a:t>
            </a:r>
            <a:endParaRPr sz="3200" b="1" i="0" dirty="0">
              <a:solidFill>
                <a:srgbClr val="162738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12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6827"/>
            <a:ext cx="106984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Obiectivele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propuse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au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fost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atinse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,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sistemul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funcționând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corect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atât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partea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de control,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cât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ansamblul</a:t>
            </a:r>
            <a:r>
              <a:rPr lang="en-US" sz="2000" b="1" dirty="0">
                <a:solidFill>
                  <a:srgbClr val="162738"/>
                </a:solidFill>
                <a:latin typeface="Segoe UI"/>
              </a:rPr>
              <a:t> </a:t>
            </a:r>
            <a:r>
              <a:rPr lang="en-US" sz="2000" b="1" dirty="0" err="1">
                <a:solidFill>
                  <a:srgbClr val="162738"/>
                </a:solidFill>
                <a:latin typeface="Segoe UI"/>
              </a:rPr>
              <a:t>mecanic</a:t>
            </a:r>
            <a:endParaRPr sz="2000" b="1" i="0" dirty="0">
              <a:solidFill>
                <a:srgbClr val="162738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479724"/>
            <a:ext cx="5486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dirty="0">
                <a:solidFill>
                  <a:srgbClr val="0E7A99"/>
                </a:solidFill>
                <a:latin typeface="Segoe UI"/>
              </a:rPr>
              <a:t>DIRECȚII VIITOARE</a:t>
            </a:r>
            <a:r>
              <a:rPr lang="en-US" sz="1500" b="1" dirty="0">
                <a:solidFill>
                  <a:srgbClr val="0E7A99"/>
                </a:solidFill>
                <a:latin typeface="Segoe UI"/>
              </a:rPr>
              <a:t>:</a:t>
            </a:r>
            <a:endParaRPr sz="1500" b="1" i="0" dirty="0">
              <a:solidFill>
                <a:srgbClr val="0E7A99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903122"/>
            <a:ext cx="10515600" cy="16586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Material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antiderapant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la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vârful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degetelor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pentru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prindere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mai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sigură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Alimentare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la 6 V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pentru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cuplu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forță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de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strângere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mai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mari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Comunicație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fără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fir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în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locul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legăturii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seriale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800" b="1" dirty="0">
                <a:solidFill>
                  <a:srgbClr val="0E7A99"/>
                </a:solidFill>
                <a:latin typeface="Segoe UI"/>
              </a:rPr>
              <a:t>▸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Filtru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Kalman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extins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la un model cu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trei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162738"/>
                </a:solidFill>
                <a:latin typeface="Segoe UI"/>
              </a:rPr>
              <a:t>stări</a:t>
            </a:r>
            <a:r>
              <a:rPr sz="1800" dirty="0">
                <a:solidFill>
                  <a:srgbClr val="16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0292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E7A99"/>
                </a:solidFill>
                <a:latin typeface="Segoe UI"/>
              </a:rPr>
              <a:t>BIBLIOGRAFIE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62738"/>
                </a:solidFill>
                <a:latin typeface="Segoe UI"/>
              </a:rPr>
              <a:t>Referințe bibliografice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72768"/>
            <a:ext cx="2011680" cy="381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5A6B7B"/>
                </a:solidFill>
                <a:latin typeface="Segoe UI"/>
              </a:rPr>
              <a:t>13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881360" cy="254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[1]  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R. E. Kalman, „A New Approach to Linear Filtering and Prediction Problems”, Journal of Basic Engineering, 1960.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[2]  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Analog Devices, „AD7124-8</a:t>
            </a:r>
            <a:r>
              <a:rPr lang="en-US" sz="1500" dirty="0">
                <a:solidFill>
                  <a:srgbClr val="162738"/>
                </a:solidFill>
                <a:latin typeface="Segoe UI"/>
              </a:rPr>
              <a:t>,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Low Power, Low Noise, 24-Bit Sigma-Delta ADC”, </a:t>
            </a:r>
            <a:r>
              <a:rPr lang="ro-RO" sz="1500" dirty="0">
                <a:solidFill>
                  <a:srgbClr val="162738"/>
                </a:solidFill>
                <a:latin typeface="Segoe UI"/>
              </a:rPr>
              <a:t>data sheet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[3]  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Analog Devices, „ADuM1400 Quad-Channel Digital Isolator”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„MAX14850 6-Channel Digital Isolator”, </a:t>
            </a:r>
            <a:r>
              <a:rPr lang="ro-RO" sz="1500" dirty="0">
                <a:solidFill>
                  <a:srgbClr val="162738"/>
                </a:solidFill>
                <a:latin typeface="Segoe UI"/>
              </a:rPr>
              <a:t>data sheets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[4]  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Analog Devices, „ADP165 Low Noise LDO Regulator”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și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„DC2468A Power Module”, </a:t>
            </a:r>
            <a:r>
              <a:rPr lang="ro-RO" sz="1500" dirty="0">
                <a:solidFill>
                  <a:srgbClr val="162738"/>
                </a:solidFill>
                <a:latin typeface="Segoe UI"/>
              </a:rPr>
              <a:t>data sheets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[5]  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Google, „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MediaPipe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Hands: On-device Real-time Hand Tracking”, 2020.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[6] 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Digilent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, „Basys3 FPGA Board Reference Manual”.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0E7A99"/>
                </a:solidFill>
                <a:latin typeface="Segoe UI"/>
              </a:rPr>
              <a:t>[7] 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Proiectul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InMoov</a:t>
            </a:r>
            <a:r>
              <a:rPr lang="en-US" sz="1500" dirty="0">
                <a:solidFill>
                  <a:srgbClr val="162738"/>
                </a:solidFill>
                <a:latin typeface="Segoe UI"/>
              </a:rPr>
              <a:t>,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mână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62738"/>
                </a:solidFill>
                <a:latin typeface="Segoe UI"/>
              </a:rPr>
              <a:t>robotică</a:t>
            </a:r>
            <a:r>
              <a:rPr sz="1500" dirty="0">
                <a:solidFill>
                  <a:srgbClr val="162738"/>
                </a:solidFill>
                <a:latin typeface="Segoe UI"/>
              </a:rPr>
              <a:t> open-source (inmoov.fr).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548888"/>
            <a:ext cx="12191695" cy="50800"/>
          </a:xfrm>
          <a:prstGeom prst="rect">
            <a:avLst/>
          </a:prstGeom>
          <a:solidFill>
            <a:srgbClr val="0E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908808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 dirty="0" err="1">
                <a:solidFill>
                  <a:srgbClr val="162738"/>
                </a:solidFill>
                <a:latin typeface="Segoe UI"/>
              </a:rPr>
              <a:t>Vă</a:t>
            </a:r>
            <a:r>
              <a:rPr sz="40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162738"/>
                </a:solidFill>
                <a:latin typeface="Segoe UI"/>
              </a:rPr>
              <a:t>mulțumesc</a:t>
            </a:r>
            <a:r>
              <a:rPr sz="40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162738"/>
                </a:solidFill>
                <a:latin typeface="Segoe UI"/>
              </a:rPr>
              <a:t>pentru</a:t>
            </a:r>
            <a:r>
              <a:rPr sz="4000" b="1" i="0" dirty="0">
                <a:solidFill>
                  <a:srgbClr val="162738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162738"/>
                </a:solidFill>
                <a:latin typeface="Segoe UI"/>
              </a:rPr>
              <a:t>atenție</a:t>
            </a:r>
            <a:r>
              <a:rPr sz="4000" b="1" i="0" dirty="0">
                <a:solidFill>
                  <a:srgbClr val="162738"/>
                </a:solidFill>
                <a:latin typeface="Segoe UI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869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Ciobanu, Radu-rares</cp:lastModifiedBy>
  <cp:revision>35</cp:revision>
  <dcterms:created xsi:type="dcterms:W3CDTF">2013-01-27T09:14:16Z</dcterms:created>
  <dcterms:modified xsi:type="dcterms:W3CDTF">2026-07-15T03:30:11Z</dcterms:modified>
  <cp:category/>
</cp:coreProperties>
</file>